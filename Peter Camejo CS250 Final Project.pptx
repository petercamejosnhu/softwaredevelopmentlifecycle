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3" r:id="rId4"/>
    <p:sldId id="258" r:id="rId5"/>
    <p:sldId id="262"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9C214E-3714-1736-A381-273EF6A3DBFD}" v="2190" dt="2026-06-22T00:12:05.4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esources.scrumalliance.org/Article/scrum-roles-demystified" TargetMode="External"/><Relationship Id="rId2" Type="http://schemas.openxmlformats.org/officeDocument/2006/relationships/hyperlink" Target="https://www.atlassian.com/agile/project-management/project-management-intr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CS250 Final Project Presentation</a:t>
            </a:r>
          </a:p>
        </p:txBody>
      </p:sp>
      <p:sp>
        <p:nvSpPr>
          <p:cNvPr id="3" name="Subtitle 2"/>
          <p:cNvSpPr>
            <a:spLocks noGrp="1"/>
          </p:cNvSpPr>
          <p:nvPr>
            <p:ph type="subTitle" idx="1"/>
          </p:nvPr>
        </p:nvSpPr>
        <p:spPr/>
        <p:txBody>
          <a:bodyPr vert="horz" lIns="91440" tIns="45720" rIns="91440" bIns="45720" rtlCol="0" anchor="t">
            <a:normAutofit/>
          </a:bodyPr>
          <a:lstStyle/>
          <a:p>
            <a:r>
              <a:rPr lang="en-US"/>
              <a:t>Peter Camejo</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DFE9F-7848-4872-1F3D-7F1F2EB9542A}"/>
              </a:ext>
            </a:extLst>
          </p:cNvPr>
          <p:cNvSpPr>
            <a:spLocks noGrp="1"/>
          </p:cNvSpPr>
          <p:nvPr>
            <p:ph type="title"/>
          </p:nvPr>
        </p:nvSpPr>
        <p:spPr/>
        <p:txBody>
          <a:bodyPr/>
          <a:lstStyle/>
          <a:p>
            <a:r>
              <a:rPr lang="en-US"/>
              <a:t>Scrum-Agile Roles I</a:t>
            </a:r>
          </a:p>
        </p:txBody>
      </p:sp>
      <p:sp>
        <p:nvSpPr>
          <p:cNvPr id="3" name="Content Placeholder 2">
            <a:extLst>
              <a:ext uri="{FF2B5EF4-FFF2-40B4-BE49-F238E27FC236}">
                <a16:creationId xmlns:a16="http://schemas.microsoft.com/office/drawing/2014/main" id="{BF98FAEC-4928-C748-A27F-088A4D7F7BC9}"/>
              </a:ext>
            </a:extLst>
          </p:cNvPr>
          <p:cNvSpPr>
            <a:spLocks noGrp="1"/>
          </p:cNvSpPr>
          <p:nvPr>
            <p:ph idx="1"/>
          </p:nvPr>
        </p:nvSpPr>
        <p:spPr/>
        <p:txBody>
          <a:bodyPr vert="horz" lIns="91440" tIns="45720" rIns="91440" bIns="45720" rtlCol="0" anchor="t">
            <a:normAutofit lnSpcReduction="10000"/>
          </a:bodyPr>
          <a:lstStyle/>
          <a:p>
            <a:r>
              <a:rPr lang="en-US" dirty="0"/>
              <a:t>Product Owner : The primary bridge between users and clients/stakeholders. </a:t>
            </a:r>
            <a:r>
              <a:rPr lang="en-US"/>
              <a:t>Continuously reprioritizes the product backlog to ensure the most important and relevant features are being worked on first. </a:t>
            </a:r>
            <a:endParaRPr lang="en-US" dirty="0"/>
          </a:p>
          <a:p>
            <a:r>
              <a:rPr lang="en-US"/>
              <a:t>Scrum Master: The team's facilitator and "coach". Enforces timeboxing, works to remove operational obstacles, and organizes the teams Scrum events.</a:t>
            </a:r>
          </a:p>
          <a:p>
            <a:r>
              <a:rPr lang="en-US" dirty="0"/>
              <a:t>Developer: Works to implement features and fulfill user stories according each week's Sprint </a:t>
            </a:r>
            <a:r>
              <a:rPr lang="en-US" dirty="0" err="1"/>
              <a:t>taskboard</a:t>
            </a:r>
            <a:r>
              <a:rPr lang="en-US" dirty="0"/>
              <a:t> and product backlog. Attends Scrum events and maintains constant communication with the team about their work and any obstacles they encounter.</a:t>
            </a:r>
          </a:p>
          <a:p>
            <a:endParaRPr lang="en-US" dirty="0"/>
          </a:p>
        </p:txBody>
      </p:sp>
    </p:spTree>
    <p:extLst>
      <p:ext uri="{BB962C8B-B14F-4D97-AF65-F5344CB8AC3E}">
        <p14:creationId xmlns:p14="http://schemas.microsoft.com/office/powerpoint/2010/main" val="1982862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12EC-CDEE-5286-2C3F-29458D88D05A}"/>
              </a:ext>
            </a:extLst>
          </p:cNvPr>
          <p:cNvSpPr>
            <a:spLocks noGrp="1"/>
          </p:cNvSpPr>
          <p:nvPr>
            <p:ph type="title"/>
          </p:nvPr>
        </p:nvSpPr>
        <p:spPr/>
        <p:txBody>
          <a:bodyPr/>
          <a:lstStyle/>
          <a:p>
            <a:r>
              <a:rPr lang="en-US"/>
              <a:t>Scrum-Agile Roles II</a:t>
            </a:r>
          </a:p>
        </p:txBody>
      </p:sp>
      <p:sp>
        <p:nvSpPr>
          <p:cNvPr id="3" name="Content Placeholder 2">
            <a:extLst>
              <a:ext uri="{FF2B5EF4-FFF2-40B4-BE49-F238E27FC236}">
                <a16:creationId xmlns:a16="http://schemas.microsoft.com/office/drawing/2014/main" id="{25527D5C-98CF-7A12-4797-3B40402F187F}"/>
              </a:ext>
            </a:extLst>
          </p:cNvPr>
          <p:cNvSpPr>
            <a:spLocks noGrp="1"/>
          </p:cNvSpPr>
          <p:nvPr>
            <p:ph idx="1"/>
          </p:nvPr>
        </p:nvSpPr>
        <p:spPr/>
        <p:txBody>
          <a:bodyPr vert="horz" lIns="91440" tIns="45720" rIns="91440" bIns="45720" rtlCol="0" anchor="t">
            <a:normAutofit lnSpcReduction="10000"/>
          </a:bodyPr>
          <a:lstStyle/>
          <a:p>
            <a:endParaRPr lang="en-US" sz="2400" dirty="0"/>
          </a:p>
          <a:p>
            <a:r>
              <a:rPr lang="en-US" sz="2400" dirty="0"/>
              <a:t>Tester: Works to test and verify the good working order of the features that the developers implement and ensures they align with user stories (ISTQB, 2023). Attends Scrum events and maintains constant communication with the team about their work and any obstacles they encounter during the Sprint. </a:t>
            </a:r>
            <a:br>
              <a:rPr lang="en-US" sz="2400" dirty="0"/>
            </a:br>
            <a:br>
              <a:rPr lang="en-US" sz="2400" dirty="0"/>
            </a:br>
            <a:r>
              <a:rPr lang="en-US" sz="2400" dirty="0"/>
              <a:t>It's important to note that for Scrum teams, autonomy and self-organizing are expected. For example, even if a Scrum team does not have a dedicated tester, one or more of the developers would be expected to handle testing. Furthermore, there should be no management directive about what developers work on which features e.g. Jane works on UI's only, Bill must work on the database backend, etc.; such matters are for the team to decide.  Even though there are individual tasks to be assigned, the general attitude regarding tasks should be "we're all in this together" (Cohn, 2022)</a:t>
            </a:r>
          </a:p>
        </p:txBody>
      </p:sp>
    </p:spTree>
    <p:extLst>
      <p:ext uri="{BB962C8B-B14F-4D97-AF65-F5344CB8AC3E}">
        <p14:creationId xmlns:p14="http://schemas.microsoft.com/office/powerpoint/2010/main" val="4097188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8101A-46A8-0CEF-6C8B-36B2F89B4828}"/>
              </a:ext>
            </a:extLst>
          </p:cNvPr>
          <p:cNvSpPr>
            <a:spLocks noGrp="1"/>
          </p:cNvSpPr>
          <p:nvPr>
            <p:ph type="title"/>
          </p:nvPr>
        </p:nvSpPr>
        <p:spPr/>
        <p:txBody>
          <a:bodyPr/>
          <a:lstStyle/>
          <a:p>
            <a:r>
              <a:rPr lang="en-US"/>
              <a:t>Scrum-Agile Phases I</a:t>
            </a:r>
          </a:p>
        </p:txBody>
      </p:sp>
      <p:sp>
        <p:nvSpPr>
          <p:cNvPr id="3" name="Content Placeholder 2">
            <a:extLst>
              <a:ext uri="{FF2B5EF4-FFF2-40B4-BE49-F238E27FC236}">
                <a16:creationId xmlns:a16="http://schemas.microsoft.com/office/drawing/2014/main" id="{7D5C5B38-44D1-E47E-EACE-8366317407BB}"/>
              </a:ext>
            </a:extLst>
          </p:cNvPr>
          <p:cNvSpPr>
            <a:spLocks noGrp="1"/>
          </p:cNvSpPr>
          <p:nvPr>
            <p:ph idx="1"/>
          </p:nvPr>
        </p:nvSpPr>
        <p:spPr/>
        <p:txBody>
          <a:bodyPr vert="horz" lIns="91440" tIns="45720" rIns="91440" bIns="45720" rtlCol="0" anchor="t">
            <a:normAutofit fontScale="92500" lnSpcReduction="20000"/>
          </a:bodyPr>
          <a:lstStyle/>
          <a:p>
            <a:r>
              <a:rPr lang="en-US" dirty="0"/>
              <a:t>Sprint Planning: A Sprint is a short, typically week-long amount of time where a usable product addition is </a:t>
            </a:r>
            <a:r>
              <a:rPr lang="en-US"/>
              <a:t>implemented</a:t>
            </a:r>
            <a:r>
              <a:rPr lang="en-US" dirty="0"/>
              <a:t>. At the beginning of each week, the Product Owner meets with the team </a:t>
            </a:r>
            <a:r>
              <a:rPr lang="en-US"/>
              <a:t>to establish a clear goal and specific items on the backlog to commit to for the week's Sprint</a:t>
            </a:r>
            <a:endParaRPr lang="en-US" dirty="0"/>
          </a:p>
          <a:p>
            <a:r>
              <a:rPr lang="en-US"/>
              <a:t>Daily Standups: A short daily meeting each morning of the Sprint where the team updates and tracks progress, clarifies what they will work on that day, and identifies obstacles.</a:t>
            </a:r>
            <a:endParaRPr lang="en-US" dirty="0"/>
          </a:p>
          <a:p>
            <a:r>
              <a:rPr lang="en-US" dirty="0"/>
              <a:t>Backlog Refinement: A mid-week event where the team and particularly the Product Owner go over the Product Backl</a:t>
            </a:r>
            <a:r>
              <a:rPr lang="en-US"/>
              <a:t>og to reduce ambiguity and complexity for future planning, and to ensure the Backlog aligns with updated criteria based on client vision and market demands (Radigan, 2024)</a:t>
            </a:r>
          </a:p>
          <a:p>
            <a:endParaRPr lang="en-US" dirty="0"/>
          </a:p>
        </p:txBody>
      </p:sp>
    </p:spTree>
    <p:extLst>
      <p:ext uri="{BB962C8B-B14F-4D97-AF65-F5344CB8AC3E}">
        <p14:creationId xmlns:p14="http://schemas.microsoft.com/office/powerpoint/2010/main" val="3516159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CC96-BC33-4CF3-52E9-E9FC58BA8316}"/>
              </a:ext>
            </a:extLst>
          </p:cNvPr>
          <p:cNvSpPr>
            <a:spLocks noGrp="1"/>
          </p:cNvSpPr>
          <p:nvPr>
            <p:ph type="title"/>
          </p:nvPr>
        </p:nvSpPr>
        <p:spPr/>
        <p:txBody>
          <a:bodyPr/>
          <a:lstStyle/>
          <a:p>
            <a:r>
              <a:rPr lang="en-US" dirty="0"/>
              <a:t>Scrum-Agile </a:t>
            </a:r>
            <a:r>
              <a:rPr lang="en-US"/>
              <a:t>Phases II</a:t>
            </a:r>
            <a:endParaRPr lang="en-US" dirty="0"/>
          </a:p>
        </p:txBody>
      </p:sp>
      <p:sp>
        <p:nvSpPr>
          <p:cNvPr id="3" name="Content Placeholder 2">
            <a:extLst>
              <a:ext uri="{FF2B5EF4-FFF2-40B4-BE49-F238E27FC236}">
                <a16:creationId xmlns:a16="http://schemas.microsoft.com/office/drawing/2014/main" id="{ED18DB75-500F-D561-B07D-3E496314E1CA}"/>
              </a:ext>
            </a:extLst>
          </p:cNvPr>
          <p:cNvSpPr>
            <a:spLocks noGrp="1"/>
          </p:cNvSpPr>
          <p:nvPr>
            <p:ph idx="1"/>
          </p:nvPr>
        </p:nvSpPr>
        <p:spPr/>
        <p:txBody>
          <a:bodyPr vert="horz" lIns="91440" tIns="45720" rIns="91440" bIns="45720" rtlCol="0" anchor="t">
            <a:normAutofit lnSpcReduction="10000"/>
          </a:bodyPr>
          <a:lstStyle/>
          <a:p>
            <a:r>
              <a:rPr lang="en-US" sz="2600" dirty="0"/>
              <a:t>Sprint Review: At the end of the week, the team demonstrates the working features implemented during the week's Sprint to clients for their immediate feedback to </a:t>
            </a:r>
            <a:r>
              <a:rPr lang="en-US" sz="2600"/>
              <a:t>incorporate. </a:t>
            </a:r>
            <a:endParaRPr lang="en-US" sz="2600" dirty="0"/>
          </a:p>
          <a:p>
            <a:r>
              <a:rPr lang="en-US" sz="2600" dirty="0"/>
              <a:t>Sprint Retrospective: Also at the end of the week, the team meets to analyze the week's Sprint and the team's processes to constantly and continuously improve workflow efficiency each and every week. </a:t>
            </a:r>
            <a:br>
              <a:rPr lang="en-US" dirty="0"/>
            </a:br>
            <a:br>
              <a:rPr lang="en-US" dirty="0"/>
            </a:br>
            <a:r>
              <a:rPr lang="en-US" sz="2600" dirty="0"/>
              <a:t>As you can probably already tell, each phase of the Scrum-Agile methodology facilitates the idea that constant communication amongst the team, the Product Owner, and the client </a:t>
            </a:r>
            <a:r>
              <a:rPr lang="en-US" sz="2600" dirty="0" err="1"/>
              <a:t>thoughout</a:t>
            </a:r>
            <a:r>
              <a:rPr lang="en-US" sz="2600" dirty="0"/>
              <a:t> each Sprint is critical to ensuring the project is aligned with client vision and market conditions week-to-week (Scrum Alliance, 2023)</a:t>
            </a:r>
          </a:p>
        </p:txBody>
      </p:sp>
    </p:spTree>
    <p:extLst>
      <p:ext uri="{BB962C8B-B14F-4D97-AF65-F5344CB8AC3E}">
        <p14:creationId xmlns:p14="http://schemas.microsoft.com/office/powerpoint/2010/main" val="3233980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676A2-5D0A-96E5-9B82-708D2AB330C2}"/>
              </a:ext>
            </a:extLst>
          </p:cNvPr>
          <p:cNvSpPr>
            <a:spLocks noGrp="1"/>
          </p:cNvSpPr>
          <p:nvPr>
            <p:ph type="title"/>
          </p:nvPr>
        </p:nvSpPr>
        <p:spPr/>
        <p:txBody>
          <a:bodyPr/>
          <a:lstStyle/>
          <a:p>
            <a:r>
              <a:rPr lang="en-US"/>
              <a:t>The Waterfall Model</a:t>
            </a:r>
          </a:p>
        </p:txBody>
      </p:sp>
      <p:sp>
        <p:nvSpPr>
          <p:cNvPr id="3" name="Content Placeholder 2">
            <a:extLst>
              <a:ext uri="{FF2B5EF4-FFF2-40B4-BE49-F238E27FC236}">
                <a16:creationId xmlns:a16="http://schemas.microsoft.com/office/drawing/2014/main" id="{C90AA7EB-F5CD-6513-B6D7-7C2C93005FD1}"/>
              </a:ext>
            </a:extLst>
          </p:cNvPr>
          <p:cNvSpPr>
            <a:spLocks noGrp="1"/>
          </p:cNvSpPr>
          <p:nvPr>
            <p:ph idx="1"/>
          </p:nvPr>
        </p:nvSpPr>
        <p:spPr/>
        <p:txBody>
          <a:bodyPr vert="horz" lIns="91440" tIns="45720" rIns="91440" bIns="45720" rtlCol="0" anchor="t">
            <a:normAutofit fontScale="92500"/>
          </a:bodyPr>
          <a:lstStyle/>
          <a:p>
            <a:r>
              <a:rPr lang="en-US"/>
              <a:t>Project development is entirely linear, moving rigidly and sequentially through the phases of requirements, design, implementation, and testing without overlap. </a:t>
            </a:r>
          </a:p>
          <a:p>
            <a:r>
              <a:rPr lang="en-US" dirty="0"/>
              <a:t>Because the initial design is entirely finalized at the very beginning, shifts in user needs and discovered design flaws are a struggle to adapt to. For example, in our Travel Project, the changes made to align with </a:t>
            </a:r>
            <a:r>
              <a:rPr lang="en-US"/>
              <a:t>the clients' wants to focus on "detox and wellness" would not have been possible to implement since it was not a part of the initial design. </a:t>
            </a:r>
          </a:p>
          <a:p>
            <a:r>
              <a:rPr lang="en-US"/>
              <a:t>Therefore, there is a high probability that a team operating under a tight time window will deliver a final product that is heavily unaligned with the client's vision and market demands. </a:t>
            </a:r>
            <a:endParaRPr lang="en-US" dirty="0"/>
          </a:p>
        </p:txBody>
      </p:sp>
    </p:spTree>
    <p:extLst>
      <p:ext uri="{BB962C8B-B14F-4D97-AF65-F5344CB8AC3E}">
        <p14:creationId xmlns:p14="http://schemas.microsoft.com/office/powerpoint/2010/main" val="3079847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8240-2E3B-677B-6004-C424FEA14C27}"/>
              </a:ext>
            </a:extLst>
          </p:cNvPr>
          <p:cNvSpPr>
            <a:spLocks noGrp="1"/>
          </p:cNvSpPr>
          <p:nvPr>
            <p:ph type="title"/>
          </p:nvPr>
        </p:nvSpPr>
        <p:spPr/>
        <p:txBody>
          <a:bodyPr/>
          <a:lstStyle/>
          <a:p>
            <a:r>
              <a:rPr lang="en-US" dirty="0"/>
              <a:t>Agile vs Waterfall: Which should you choose </a:t>
            </a:r>
            <a:r>
              <a:rPr lang="en-US"/>
              <a:t>for your product?</a:t>
            </a:r>
          </a:p>
        </p:txBody>
      </p:sp>
      <p:sp>
        <p:nvSpPr>
          <p:cNvPr id="3" name="Content Placeholder 2">
            <a:extLst>
              <a:ext uri="{FF2B5EF4-FFF2-40B4-BE49-F238E27FC236}">
                <a16:creationId xmlns:a16="http://schemas.microsoft.com/office/drawing/2014/main" id="{6CF0A878-D357-CCCB-18AA-67DFE4222807}"/>
              </a:ext>
            </a:extLst>
          </p:cNvPr>
          <p:cNvSpPr>
            <a:spLocks noGrp="1"/>
          </p:cNvSpPr>
          <p:nvPr>
            <p:ph idx="1"/>
          </p:nvPr>
        </p:nvSpPr>
        <p:spPr/>
        <p:txBody>
          <a:bodyPr vert="horz" lIns="91440" tIns="45720" rIns="91440" bIns="45720" rtlCol="0" anchor="t">
            <a:normAutofit fontScale="92500"/>
          </a:bodyPr>
          <a:lstStyle/>
          <a:p>
            <a:r>
              <a:rPr lang="en-US" dirty="0"/>
              <a:t>The core aspects to consider when choosing between Agile and Waterfall are project requ</a:t>
            </a:r>
            <a:r>
              <a:rPr lang="en-US"/>
              <a:t>irement stability, total timeline duration, and how important client/stakeholder feedback and market demands are. </a:t>
            </a:r>
          </a:p>
          <a:p>
            <a:r>
              <a:rPr lang="en-US" dirty="0"/>
              <a:t>Waterfall is best suited for projects with fixed, unchanging requirements in environments where the need for changes is unlikely. Furthermore, Waterfall works best with extended </a:t>
            </a:r>
            <a:r>
              <a:rPr lang="en-US"/>
              <a:t>timelines.</a:t>
            </a:r>
          </a:p>
          <a:p>
            <a:r>
              <a:rPr lang="en-US" dirty="0"/>
              <a:t>Agile is far superior for projects with short, constrained timelines and is best suited for projects where rapid iteration and constant </a:t>
            </a:r>
            <a:r>
              <a:rPr lang="en-US"/>
              <a:t>client and market alignment is critical to the success of the product. </a:t>
            </a:r>
            <a:endParaRPr lang="en-US" dirty="0"/>
          </a:p>
        </p:txBody>
      </p:sp>
    </p:spTree>
    <p:extLst>
      <p:ext uri="{BB962C8B-B14F-4D97-AF65-F5344CB8AC3E}">
        <p14:creationId xmlns:p14="http://schemas.microsoft.com/office/powerpoint/2010/main" val="1854353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3A42-3AD7-64E2-986E-67C43B4512CB}"/>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2EE46229-0400-8564-CF2C-AD65097DA6EF}"/>
              </a:ext>
            </a:extLst>
          </p:cNvPr>
          <p:cNvSpPr>
            <a:spLocks noGrp="1"/>
          </p:cNvSpPr>
          <p:nvPr>
            <p:ph idx="1"/>
          </p:nvPr>
        </p:nvSpPr>
        <p:spPr/>
        <p:txBody>
          <a:bodyPr vert="horz" lIns="91440" tIns="45720" rIns="91440" bIns="45720" rtlCol="0" anchor="t">
            <a:normAutofit/>
          </a:bodyPr>
          <a:lstStyle/>
          <a:p>
            <a:r>
              <a:rPr lang="en-US" sz="2000">
                <a:latin typeface="Aptos"/>
                <a:cs typeface="Times New Roman"/>
              </a:rPr>
              <a:t>International Software Testing Qualifications Board (ISTQB). (2023). </a:t>
            </a:r>
            <a:r>
              <a:rPr lang="en-US" sz="2000" i="1">
                <a:latin typeface="Aptos"/>
                <a:cs typeface="Times New Roman"/>
              </a:rPr>
              <a:t>Certified Tester Foundation Level (CTFL) Syllabus v4.0</a:t>
            </a:r>
            <a:r>
              <a:rPr lang="en-US" sz="2000">
                <a:latin typeface="Aptos"/>
                <a:cs typeface="Times New Roman"/>
              </a:rPr>
              <a:t>.1 ISTQB.</a:t>
            </a:r>
          </a:p>
          <a:p>
            <a:r>
              <a:rPr lang="en-US" sz="2000">
                <a:latin typeface="Aptos"/>
                <a:cs typeface="Times New Roman"/>
              </a:rPr>
              <a:t>Radigan, D. (2023). </a:t>
            </a:r>
            <a:r>
              <a:rPr lang="en-US" sz="2000" i="1">
                <a:latin typeface="Aptos"/>
                <a:cs typeface="Times New Roman"/>
              </a:rPr>
              <a:t>Waterfall vs. Agile: The differences in project management methodologies</a:t>
            </a:r>
            <a:r>
              <a:rPr lang="en-US" sz="2000">
                <a:latin typeface="Aptos"/>
                <a:cs typeface="Times New Roman"/>
              </a:rPr>
              <a:t>. Atlassian. </a:t>
            </a:r>
            <a:r>
              <a:rPr lang="en-US" sz="2000" u="sng" dirty="0">
                <a:latin typeface="Aptos"/>
                <a:cs typeface="Times New Roman"/>
                <a:hlinkClick r:id="rId2"/>
              </a:rPr>
              <a:t>https://www.atlassian.com/agile/project-management/project-management-intro</a:t>
            </a:r>
            <a:endParaRPr lang="en-US" sz="2000">
              <a:latin typeface="Aptos"/>
              <a:cs typeface="Times New Roman"/>
            </a:endParaRPr>
          </a:p>
          <a:p>
            <a:r>
              <a:rPr lang="en-US" sz="2000">
                <a:latin typeface="Aptos"/>
                <a:cs typeface="Times New Roman"/>
              </a:rPr>
              <a:t>Scrum Alliance. (2024). </a:t>
            </a:r>
            <a:r>
              <a:rPr lang="en-US" sz="2000" i="1">
                <a:latin typeface="Aptos"/>
                <a:cs typeface="Times New Roman"/>
              </a:rPr>
              <a:t>Scrum roles demystified</a:t>
            </a:r>
            <a:r>
              <a:rPr lang="en-US" sz="2000">
                <a:latin typeface="Aptos"/>
                <a:cs typeface="Times New Roman"/>
              </a:rPr>
              <a:t>. </a:t>
            </a:r>
            <a:r>
              <a:rPr lang="en-US" sz="2000" u="sng" dirty="0">
                <a:latin typeface="Aptos"/>
                <a:cs typeface="Times New Roman"/>
                <a:hlinkClick r:id="rId3"/>
              </a:rPr>
              <a:t>https://resources.scrumalliance.org/Article/scrum-roles-demystified</a:t>
            </a:r>
            <a:endParaRPr lang="en-US" sz="2000" dirty="0">
              <a:latin typeface="Aptos"/>
              <a:cs typeface="Times New Roman"/>
            </a:endParaRPr>
          </a:p>
          <a:p>
            <a:r>
              <a:rPr lang="en-US" sz="2000">
                <a:latin typeface="Aptos"/>
                <a:cs typeface="Times New Roman"/>
              </a:rPr>
              <a:t>Cohn, M. (2022). </a:t>
            </a:r>
            <a:r>
              <a:rPr lang="en-US" sz="2000" i="1">
                <a:latin typeface="Aptos"/>
                <a:cs typeface="Times New Roman"/>
              </a:rPr>
              <a:t>User Stories Applied: For Agile Software Development.</a:t>
            </a:r>
            <a:r>
              <a:rPr lang="en-US" sz="2000">
                <a:latin typeface="Aptos"/>
                <a:cs typeface="Times New Roman"/>
              </a:rPr>
              <a:t> Addison-Wesley.</a:t>
            </a:r>
          </a:p>
          <a:p>
            <a:endParaRPr lang="en-US" sz="2000" u="sng" dirty="0">
              <a:cs typeface="Times New Roman"/>
            </a:endParaRPr>
          </a:p>
          <a:p>
            <a:endParaRPr lang="en-US" dirty="0"/>
          </a:p>
        </p:txBody>
      </p:sp>
    </p:spTree>
    <p:extLst>
      <p:ext uri="{BB962C8B-B14F-4D97-AF65-F5344CB8AC3E}">
        <p14:creationId xmlns:p14="http://schemas.microsoft.com/office/powerpoint/2010/main" val="3776872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CS250 Final Project Presentation</vt:lpstr>
      <vt:lpstr>Scrum-Agile Roles I</vt:lpstr>
      <vt:lpstr>Scrum-Agile Roles II</vt:lpstr>
      <vt:lpstr>Scrum-Agile Phases I</vt:lpstr>
      <vt:lpstr>Scrum-Agile Phases II</vt:lpstr>
      <vt:lpstr>The Waterfall Model</vt:lpstr>
      <vt:lpstr>Agile vs Waterfall: Which should you choose for your product?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320</cp:revision>
  <dcterms:created xsi:type="dcterms:W3CDTF">2026-06-21T23:08:12Z</dcterms:created>
  <dcterms:modified xsi:type="dcterms:W3CDTF">2026-06-22T00:13:54Z</dcterms:modified>
</cp:coreProperties>
</file>